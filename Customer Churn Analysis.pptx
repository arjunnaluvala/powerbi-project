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7" r:id="rId4"/>
    <p:sldId id="266" r:id="rId5"/>
    <p:sldId id="273" r:id="rId6"/>
    <p:sldId id="261" r:id="rId7"/>
    <p:sldId id="267" r:id="rId8"/>
    <p:sldId id="268" r:id="rId9"/>
    <p:sldId id="269" r:id="rId10"/>
    <p:sldId id="274" r:id="rId11"/>
    <p:sldId id="275" r:id="rId12"/>
    <p:sldId id="276" r:id="rId13"/>
    <p:sldId id="271" r:id="rId14"/>
    <p:sldId id="270" r:id="rId15"/>
    <p:sldId id="277" r:id="rId16"/>
    <p:sldId id="278" r:id="rId17"/>
    <p:sldId id="282" r:id="rId18"/>
    <p:sldId id="280" r:id="rId19"/>
    <p:sldId id="264" r:id="rId20"/>
    <p:sldId id="281" r:id="rId21"/>
    <p:sldId id="263" r:id="rId22"/>
    <p:sldId id="259" r:id="rId23"/>
  </p:sldIdLst>
  <p:sldSz cx="12192000" cy="6858000"/>
  <p:notesSz cx="6858000" cy="9144000"/>
  <p:embeddedFontLst>
    <p:embeddedFont>
      <p:font typeface="Libre Baskerville" panose="02000000000000000000" pitchFamily="2" charset="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8A36E1-3632-BCD0-99DB-834026A7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22702DA-BF51-7EA5-D881-2D53EBE9B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61465E6-2913-B34F-7DF0-B8C1FFC35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64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96B971-25D5-A6AB-14E8-6A4494F1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852282D-1981-8B46-17F2-BBBDDFA55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48BA718-665B-1E04-010B-EBCEE70E4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450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950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0B242-410B-779A-C03C-95356446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4B3C1-67AE-36B8-8557-92A3370C8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5F019-E741-2597-039F-4986EC7FC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0298B-F231-DDDE-32DA-6EC6AF06B6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6140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A42C9-D807-0E7C-1CCC-48DA262A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135A6-2AA2-78B7-8D4A-0AB32C236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8CCB1-A649-9010-F37B-ACD018D93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C3CF7-76F8-8726-AB48-2F67C772E9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6315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2282-A96E-1CA1-BC67-391EF98B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7D9F3-91BF-38AC-3508-8BE447EA8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5CA9D-D1D0-D0D8-171A-0C261DEC0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A5119-BF43-C143-7059-598ECFBDDF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2434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2730-C887-56D7-0796-2CB666C3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138F3-9AC2-B697-D61F-E060BBE84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BBF77-E567-920A-CC72-85753E1D3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E75E6-E02B-A5A7-FAF0-7B895DEF8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121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6E703-13F0-1653-D524-DF038294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2D636-8A7F-1292-F4B2-0065A31DD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4EF9C-B6DA-D235-0955-38E05B48F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F1ACD-B874-3A75-423B-6C126B4367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852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175-24A7-2031-6949-549EDC68E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C5839-4107-77B2-44A5-1AF4DC1E0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ABFE9-042E-9649-E10A-EBF14ED91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04DA-2B78-3B95-DBF0-50362D05E4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3092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FAA2-2C92-475F-55FE-37D307DB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31B29-A77A-E3A6-89DD-9ECFD629F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12F85-4755-8890-31D7-307D2E991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73C04-3C80-90B9-84FB-A1C0A66A4B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7949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19A7-5F03-1787-40C8-A011D8E8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E26C7-1CFD-125A-58DF-019E83CE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D81D9-1FBB-686D-27C1-985E1511B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BF2CE-7BF0-3719-7AB3-27809069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0890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7721-760B-A2F5-812A-06F75211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34E11-8475-B231-1798-F6FB6969A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BA323-47DC-71AC-722F-9DB4FEFB4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593E5-120C-95BD-3784-2D949472A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8719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B743-43CA-2634-1837-5FF7DEB4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3EB12-B74D-5678-AB98-FDE75B7DC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F8831-2D34-02CE-1717-CEF9B3EE1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F0687-FBBA-78B8-ED33-FE1CA36D89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3964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C3D9-A7AB-3E45-A05C-2DC02A1B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E0F88-4BF2-F33C-866C-666EC8041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F4332-3C69-3E27-4D5A-F18E4E944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F4DF5-5E58-6350-D00A-9FD74D75A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7106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2800" b="1" dirty="0"/>
              <a:t>Customer Churn Analysis</a:t>
            </a:r>
            <a:endParaRPr lang="en-IN" sz="28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E3F20-D484-A57A-3A5F-F226CB0C45B4}"/>
              </a:ext>
            </a:extLst>
          </p:cNvPr>
          <p:cNvSpPr txBox="1"/>
          <p:nvPr/>
        </p:nvSpPr>
        <p:spPr>
          <a:xfrm>
            <a:off x="782425" y="5090474"/>
            <a:ext cx="2903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Arjun Naluvala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391104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i="1" dirty="0">
                <a:solidFill>
                  <a:srgbClr val="FF0000"/>
                </a:solidFill>
              </a:rPr>
              <a:t>Agenda</a:t>
            </a:r>
            <a:endParaRPr sz="4000" b="1" i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170038" y="1090011"/>
            <a:ext cx="10030441" cy="466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§"/>
            </a:pPr>
            <a:r>
              <a:rPr lang="en-IN" sz="2400" b="1" dirty="0"/>
              <a:t>Business Problem</a:t>
            </a: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chemeClr val="tx1"/>
                </a:solidFill>
              </a:rPr>
              <a:t>Project Overview</a:t>
            </a: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Data Preparation</a:t>
            </a: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Dashboard Visualizations</a:t>
            </a: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Applications</a:t>
            </a: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US" sz="2400" b="1" dirty="0"/>
              <a:t>Recommendations</a:t>
            </a:r>
            <a:endParaRPr lang="en-IN" sz="2400" b="1" dirty="0">
              <a:solidFill>
                <a:schemeClr val="tx1"/>
              </a:solidFill>
            </a:endParaRPr>
          </a:p>
          <a:p>
            <a:pPr indent="-431800">
              <a:buSzPts val="24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tx1"/>
                </a:solidFill>
              </a:rPr>
              <a:t>Challenges</a:t>
            </a:r>
            <a:endParaRPr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§"/>
            </a:pPr>
            <a:r>
              <a:rPr lang="en-IN" sz="2400" b="1" dirty="0"/>
              <a:t>Conclusion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88650" y="1397495"/>
            <a:ext cx="10284149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telecom company is facing increasing customer churn, which leads to revenue loss and reduced customer lifetime value.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lacks a clear understanding of why customers are leaving and which customer segments are at high risk of churn.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customer churn using demographics, services, contracts, and billing data and provides data-driven solutions.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688650" y="642696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sz="3200" b="1" i="1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C8B4577-A16E-46AF-34E5-BE869603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202375D0-153F-841A-E917-46C4C8781350}"/>
              </a:ext>
            </a:extLst>
          </p:cNvPr>
          <p:cNvSpPr txBox="1"/>
          <p:nvPr/>
        </p:nvSpPr>
        <p:spPr>
          <a:xfrm>
            <a:off x="688650" y="1397495"/>
            <a:ext cx="10284149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objectives of this project are: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churn 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involves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and visualization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generate meaningful insights. </a:t>
            </a:r>
          </a:p>
          <a:p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key reasons for customer churn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customer behavior using demographics &amp; service/billing data.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churn by contract type, services &amp; payment methods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business KPIs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Spot high-risk customers &amp; apply retention strategies to boost revenue 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5124DF2-9B47-1829-C424-C91B1F881398}"/>
              </a:ext>
            </a:extLst>
          </p:cNvPr>
          <p:cNvSpPr txBox="1"/>
          <p:nvPr/>
        </p:nvSpPr>
        <p:spPr>
          <a:xfrm>
            <a:off x="688650" y="642696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  <a:r>
              <a:rPr lang="en-IN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3200" b="1" i="1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94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1F23DFC-8243-29A7-A208-1B9D5509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5256D3CE-4EA1-0100-0777-ED7D4793DB7D}"/>
              </a:ext>
            </a:extLst>
          </p:cNvPr>
          <p:cNvSpPr txBox="1"/>
          <p:nvPr/>
        </p:nvSpPr>
        <p:spPr>
          <a:xfrm>
            <a:off x="688650" y="1397495"/>
            <a:ext cx="10284149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contains unique customer identification and basic details like gender and senior citizen status.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includes information about customer relationships such as partner and dependents.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details on services like phone service, internet service, and additional features.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Billing details such as contract type, payment method, monthly charges, and total charges are included.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churn column indicates whether the customer has stayed or left the service. 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96993D22-47FF-4D2E-69E5-C8A8624963F8}"/>
              </a:ext>
            </a:extLst>
          </p:cNvPr>
          <p:cNvSpPr txBox="1"/>
          <p:nvPr/>
        </p:nvSpPr>
        <p:spPr>
          <a:xfrm>
            <a:off x="688650" y="642696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Description</a:t>
            </a:r>
            <a:endParaRPr sz="3200" b="1" i="1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184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918C-95F6-5C13-5488-A5538189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Data Preparation </a:t>
            </a:r>
            <a:endParaRPr lang="en-IN" sz="3200" b="1" i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F83B-FA6E-7702-D736-2B01096D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Imported dataset into Power BI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Removed </a:t>
            </a:r>
            <a:r>
              <a:rPr lang="en-US" sz="2000" b="1" dirty="0"/>
              <a:t>duplicate records</a:t>
            </a:r>
            <a:r>
              <a:rPr lang="en-US" sz="2000" dirty="0"/>
              <a:t> to ensure data accuracy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Handled </a:t>
            </a:r>
            <a:r>
              <a:rPr lang="en-US" sz="2000" b="1" dirty="0"/>
              <a:t>missing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Fixed nulls and converted Total Charges to numeric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Created DAX for Churn Rate, Avg Charges, Avg Tenure, Revenue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Ensured dataset is </a:t>
            </a:r>
            <a:r>
              <a:rPr lang="en-US" sz="2000" b="1" dirty="0"/>
              <a:t>clean, consistent, and ready for analysis</a:t>
            </a:r>
          </a:p>
        </p:txBody>
      </p:sp>
    </p:spTree>
    <p:extLst>
      <p:ext uri="{BB962C8B-B14F-4D97-AF65-F5344CB8AC3E}">
        <p14:creationId xmlns:p14="http://schemas.microsoft.com/office/powerpoint/2010/main" val="323165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5B9E-A8BB-F7FC-903B-FAFC682A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1CD2-F830-EA72-BCD9-05AE5B05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Dashboard Visualizations</a:t>
            </a:r>
            <a:endParaRPr lang="en-IN" sz="3200" b="1" i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4DF5C-711A-6C60-387A-CDA29E43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213" y="1170040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i="1" dirty="0">
                <a:solidFill>
                  <a:srgbClr val="FF0000"/>
                </a:solidFill>
              </a:rPr>
              <a:t>Customer Demographics Analysis</a:t>
            </a:r>
          </a:p>
          <a:p>
            <a:pPr marL="114300" indent="0">
              <a:buNone/>
            </a:pPr>
            <a:r>
              <a:rPr lang="en-IN" sz="2000" b="1" dirty="0"/>
              <a:t>Visuals Used: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KPI Cards -&gt;</a:t>
            </a:r>
            <a:r>
              <a:rPr lang="en-IN" sz="2000" dirty="0"/>
              <a:t> Total Customers, Churned Customers, Churn Rate, Average Monthly Charges, Average Tenure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Donut Chart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Customer Distribution by Gender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Bar Chart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Tenure Group vs Customer Count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Column Chart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Churn Rate by Tenure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Line Chart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Tenure vs Average Monthly Charges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Line Chart (with legend)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Average Monthly Charges by Tenure and Gender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Stacked Bar Chart</a:t>
            </a:r>
            <a:r>
              <a:rPr lang="en-IN" sz="2000" dirty="0"/>
              <a:t> </a:t>
            </a:r>
            <a:r>
              <a:rPr lang="en-IN" sz="2000" b="1" dirty="0"/>
              <a:t>-&gt; </a:t>
            </a:r>
            <a:r>
              <a:rPr lang="en-IN" sz="2000" dirty="0"/>
              <a:t>Senior Citizen vs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Slicers</a:t>
            </a:r>
            <a:r>
              <a:rPr lang="en-IN" sz="2000" dirty="0"/>
              <a:t> </a:t>
            </a:r>
            <a:r>
              <a:rPr lang="en-IN" sz="2000" b="1" dirty="0"/>
              <a:t>-&gt;</a:t>
            </a:r>
            <a:r>
              <a:rPr lang="en-IN" sz="2000" dirty="0"/>
              <a:t> Contract Type, Gender</a:t>
            </a:r>
          </a:p>
        </p:txBody>
      </p:sp>
    </p:spTree>
    <p:extLst>
      <p:ext uri="{BB962C8B-B14F-4D97-AF65-F5344CB8AC3E}">
        <p14:creationId xmlns:p14="http://schemas.microsoft.com/office/powerpoint/2010/main" val="197534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4201-DCE5-8E60-C210-9EA6A230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AB5DC8-DA3E-7168-1242-36EBAD24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239424" cy="62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2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D2AC-D9DA-8969-E6DB-90321FCF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444B-FA44-2BC3-9D50-302CAEC6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448417"/>
            <a:ext cx="10515600" cy="804914"/>
          </a:xfrm>
        </p:spPr>
        <p:txBody>
          <a:bodyPr>
            <a:norm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3200" b="1" i="1" dirty="0">
                <a:solidFill>
                  <a:srgbClr val="FF0000"/>
                </a:solidFill>
              </a:rPr>
              <a:t>Key Insights</a:t>
            </a:r>
            <a:endParaRPr lang="en-US" altLang="en-US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5A16D-CF8C-C89D-9F66-B1F70F6D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Male and female customers are almost equally distributed.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citizens show slightly higher churn than non-senior customers.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customers belong to lower tenure groups (1–2 years).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 decreases as tenure increases (highest for new customers).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monthly charges increase gradually with tenure.</a:t>
            </a:r>
          </a:p>
        </p:txBody>
      </p:sp>
    </p:spTree>
    <p:extLst>
      <p:ext uri="{BB962C8B-B14F-4D97-AF65-F5344CB8AC3E}">
        <p14:creationId xmlns:p14="http://schemas.microsoft.com/office/powerpoint/2010/main" val="380572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3070-EC1F-4249-C05F-562669B4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ECE6-BAF2-184E-3EC2-7B384BDB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IN" sz="3200" b="1" i="1" dirty="0">
                <a:solidFill>
                  <a:srgbClr val="FF0000"/>
                </a:solidFill>
              </a:rPr>
              <a:t>Service Subscription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FD0B-2143-DFE8-3C96-49E8FACBE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Visuals Used: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KPI Cards  </a:t>
            </a:r>
            <a:r>
              <a:rPr lang="en-IN" sz="2000" b="1" dirty="0"/>
              <a:t>-&gt; </a:t>
            </a:r>
            <a:r>
              <a:rPr lang="en-US" sz="2000" dirty="0"/>
              <a:t>Churned Customers, Churn Rate, Streaming Movies Churn, Streaming TV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Bar Chart  </a:t>
            </a:r>
            <a:r>
              <a:rPr lang="en-IN" sz="2000" b="1" dirty="0"/>
              <a:t>-&gt;</a:t>
            </a:r>
            <a:r>
              <a:rPr lang="en-US" sz="2000" b="1" dirty="0"/>
              <a:t>  </a:t>
            </a:r>
            <a:r>
              <a:rPr lang="en-US" sz="2000" dirty="0"/>
              <a:t>Customers by Phone Service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Clustered Column Chart 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Internet Service vs Churn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Donut Chart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Customer Distribution by Internet Service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Bar Chart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Add-on Services Used by Churned Customers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Line and Clustered Column Chart </a:t>
            </a:r>
            <a:r>
              <a:rPr lang="en-IN" sz="2000" b="1" dirty="0"/>
              <a:t>-&gt; </a:t>
            </a:r>
            <a:r>
              <a:rPr lang="en-US" sz="2000" dirty="0"/>
              <a:t>Total Customers &amp; Churn Rate by Total Service Count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Slicers </a:t>
            </a:r>
            <a:r>
              <a:rPr lang="en-IN" sz="2000" b="1" dirty="0"/>
              <a:t>-&gt;</a:t>
            </a:r>
            <a:r>
              <a:rPr lang="en-US" sz="2000" dirty="0"/>
              <a:t> Internet Service, Contract, Gender, Device Protection, Senior Citizen</a:t>
            </a:r>
          </a:p>
        </p:txBody>
      </p:sp>
    </p:spTree>
    <p:extLst>
      <p:ext uri="{BB962C8B-B14F-4D97-AF65-F5344CB8AC3E}">
        <p14:creationId xmlns:p14="http://schemas.microsoft.com/office/powerpoint/2010/main" val="261564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41B0-76D0-807A-C510-C504DF3D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5F2B90-79DC-8292-C411-984ECD3F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37571" cy="623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1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AB32-9AC0-9C84-B52E-BC396C30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39164-350A-8007-223D-7070A2D5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448417"/>
            <a:ext cx="10515600" cy="804914"/>
          </a:xfrm>
        </p:spPr>
        <p:txBody>
          <a:bodyPr>
            <a:norm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3200" b="1" i="1" dirty="0">
                <a:solidFill>
                  <a:srgbClr val="FF0000"/>
                </a:solidFill>
              </a:rPr>
              <a:t>Key Insights</a:t>
            </a:r>
            <a:endParaRPr lang="en-US" altLang="en-US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46719-72CC-2C0A-07FD-33F22D6BD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Most customers have phone service; very few without it.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Fiber optic internet users form the largest customer group.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Customers with fewer services churn more</a:t>
            </a:r>
            <a:r>
              <a:rPr lang="en-US" sz="20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Churn rate decreases as total service count increases.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Add-on services like streaming and device protection are common among churned customers. </a:t>
            </a:r>
          </a:p>
        </p:txBody>
      </p:sp>
    </p:spTree>
    <p:extLst>
      <p:ext uri="{BB962C8B-B14F-4D97-AF65-F5344CB8AC3E}">
        <p14:creationId xmlns:p14="http://schemas.microsoft.com/office/powerpoint/2010/main" val="2141958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9748-04DF-9559-0F85-AADBBE44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83C2-4117-EAD3-3FEA-DEB19B97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Contract &amp; Billing Insights</a:t>
            </a:r>
            <a:endParaRPr lang="en-IN" sz="3200" b="1" i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51B5D-6C73-4AC7-A723-CD1E3679E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Visuals Used: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KPI Cards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Total Customers, Churned Customers, Churn Rate, Average Monthly Charges, Average Total Charges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Stacked Bar Chart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Average Tenure Distribution by Contract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Clustered Column Chart → </a:t>
            </a:r>
            <a:r>
              <a:rPr lang="en-US" sz="2000" dirty="0"/>
              <a:t>Average of Total Charges by Contract and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Clustered Column Chart →</a:t>
            </a:r>
            <a:r>
              <a:rPr lang="en-US" sz="2000" dirty="0"/>
              <a:t> Total Customers by Payment Method and Churn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Clustered Column Chart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Churn Rate by Contract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Slicers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sz="2000" dirty="0"/>
              <a:t>Contract Type, Payment Method</a:t>
            </a:r>
          </a:p>
        </p:txBody>
      </p:sp>
    </p:spTree>
    <p:extLst>
      <p:ext uri="{BB962C8B-B14F-4D97-AF65-F5344CB8AC3E}">
        <p14:creationId xmlns:p14="http://schemas.microsoft.com/office/powerpoint/2010/main" val="288646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D58A-FCF1-F77C-EE2C-5E7070B5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438118-BE1B-08D3-BCEC-775FEA33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12192000" cy="61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30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6C8D-9767-9844-9629-BBECD3D1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2BA5-FF1B-8417-E9FF-5A84B60A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448417"/>
            <a:ext cx="10515600" cy="804914"/>
          </a:xfrm>
        </p:spPr>
        <p:txBody>
          <a:bodyPr>
            <a:norm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3200" b="1" i="1" dirty="0">
                <a:solidFill>
                  <a:srgbClr val="FF0000"/>
                </a:solidFill>
              </a:rPr>
              <a:t>Key Insights</a:t>
            </a:r>
            <a:endParaRPr lang="en-US" altLang="en-US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02313-9DED-C2E5-4DF2-07EF32BF9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 check is the most commonly used payment method.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using electronic check show higher churn compared to other payment modes.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payment methods (bank transfer / credit card) have lower churn.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contracts have the highest churn rate.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One-year and two-year contracts significantly reduce churn.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contract duration improves customer retention.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979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0EA7-A5FD-307B-7391-CF08A52A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8289-1407-ED9A-ECC7-3D33A86E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en-IN" sz="3200" b="1" i="1" dirty="0">
                <a:solidFill>
                  <a:srgbClr val="FF0000"/>
                </a:solidFill>
              </a:rPr>
              <a:t>Churn Prediction &amp; Key Drivers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FF1CD-FE0D-7D1E-97FE-264283865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9374" y="1253331"/>
            <a:ext cx="10515600" cy="4351338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Visuals Used: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KPI Cards </a:t>
            </a:r>
            <a:r>
              <a:rPr lang="en-IN" sz="2000" b="1" dirty="0"/>
              <a:t>-&gt;</a:t>
            </a:r>
            <a:r>
              <a:rPr lang="en-US" sz="2000" b="1" dirty="0"/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Rate, Retained Revenue, Lost Revenue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Gauge Chart </a:t>
            </a:r>
            <a:r>
              <a:rPr lang="en-IN" sz="2000" b="1" dirty="0"/>
              <a:t>-&gt;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 Indicator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Donut Chart </a:t>
            </a:r>
            <a:r>
              <a:rPr lang="en-IN" sz="2000" b="1" dirty="0"/>
              <a:t>-&gt;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by Churn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 map </a:t>
            </a:r>
            <a:r>
              <a:rPr lang="en-IN" sz="2000" b="1" dirty="0"/>
              <a:t>-&gt;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Customers by Contract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 </a:t>
            </a:r>
            <a:r>
              <a:rPr lang="en-IN" sz="2000" b="1" dirty="0"/>
              <a:t>-&gt;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by Churn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 </a:t>
            </a:r>
            <a:r>
              <a:rPr lang="en-IN" sz="2000" b="1" dirty="0"/>
              <a:t>-&gt;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Churn Rate by Contract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Stacked Bar Chart </a:t>
            </a:r>
            <a:r>
              <a:rPr lang="en-IN" sz="2000" b="1" dirty="0"/>
              <a:t>-&gt;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by Contract and Churn </a:t>
            </a:r>
          </a:p>
        </p:txBody>
      </p:sp>
    </p:spTree>
    <p:extLst>
      <p:ext uri="{BB962C8B-B14F-4D97-AF65-F5344CB8AC3E}">
        <p14:creationId xmlns:p14="http://schemas.microsoft.com/office/powerpoint/2010/main" val="4035933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4914CB-2574-B5FE-E9FF-20CCE45C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23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5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4C2D-33CE-E73D-39D2-28BA8C5B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71C7-3192-047C-EF12-0F80FD4E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448417"/>
            <a:ext cx="10515600" cy="804914"/>
          </a:xfrm>
        </p:spPr>
        <p:txBody>
          <a:bodyPr>
            <a:normAutofit/>
          </a:bodyPr>
          <a:lstStyle/>
          <a:p>
            <a:pPr marL="342900"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3200" b="1" i="1" dirty="0">
                <a:solidFill>
                  <a:srgbClr val="FF0000"/>
                </a:solidFill>
              </a:rPr>
              <a:t>Key Insights</a:t>
            </a:r>
            <a:endParaRPr lang="en-US" altLang="en-US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590C03-8E9E-B337-F7EF-E9BC67D3A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7758" y="1253331"/>
            <a:ext cx="837761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churn rate is around 27%.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 revenue (13.19M) is much higher than lost revenue (2.86M).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contracts contribute the highest churn.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Two-year contracts show the lowest churn rate.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rate decreases as contract duration increases.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 customers have higher churn compared to DSL and no internet.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churned customers belong to month-to-month contracts. 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Non-churned customers generate the majority of total revenue. </a:t>
            </a:r>
          </a:p>
        </p:txBody>
      </p:sp>
    </p:spTree>
    <p:extLst>
      <p:ext uri="{BB962C8B-B14F-4D97-AF65-F5344CB8AC3E}">
        <p14:creationId xmlns:p14="http://schemas.microsoft.com/office/powerpoint/2010/main" val="3678214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BEF0-A614-00E2-2D34-D7F29C83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22614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Applications</a:t>
            </a:r>
            <a:endParaRPr lang="en-IN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2E4ED-1821-9D6A-6822-0FDDEA60F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7198"/>
            <a:ext cx="10515600" cy="5021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support teams improve service for churn-prone users.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management to track churn KPIs.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Guides product teams in pricing and bundling decisions.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Assists marketing teams in targeted retention campaigns.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business planning with revenue risk insights.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4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9A43-3BCE-D2E0-E475-EA355165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9636-44E5-563E-35AF-78C2A21C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IN" sz="3200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409A-2A80-E3C5-B6A3-C9FA6E20A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7198"/>
            <a:ext cx="10515600" cy="5021211"/>
          </a:xfrm>
        </p:spPr>
        <p:txBody>
          <a:bodyPr>
            <a:norm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 long-term contracts (one-year / two-year).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automatic payment methods to reduce churn.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discounts for customers with fewer services.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fiber optic users with retention campaigns.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loyalty benefits for long-tenure customers.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21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ECD3-C972-39EA-B452-8C47771D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Conclusion</a:t>
            </a:r>
            <a:endParaRPr lang="en-IN" sz="3200" i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2DF5A-24D5-0448-FBA6-A6BC44CE2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693" y="1436841"/>
            <a:ext cx="10650415" cy="4351338"/>
          </a:xfrm>
        </p:spPr>
        <p:txBody>
          <a:bodyPr>
            <a:no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Reveals key churn patterns and drivers.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charges &amp; month-to-month plans show highest churn.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highest among month-to-month customers with fewer services.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contracts and bundled services improve retention.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these insights helps reduce churn and increase revenue. </a:t>
            </a:r>
          </a:p>
        </p:txBody>
      </p:sp>
    </p:spTree>
    <p:extLst>
      <p:ext uri="{BB962C8B-B14F-4D97-AF65-F5344CB8AC3E}">
        <p14:creationId xmlns:p14="http://schemas.microsoft.com/office/powerpoint/2010/main" val="2748624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1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Baskerville"/>
              </a:rPr>
              <a:t>THANK YOU</a:t>
            </a:r>
            <a:endParaRPr sz="1800" b="1" i="1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967</Words>
  <Application>Microsoft Office PowerPoint</Application>
  <PresentationFormat>Widescreen</PresentationFormat>
  <Paragraphs>164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Libre Baskerville</vt:lpstr>
      <vt:lpstr>Wingdings</vt:lpstr>
      <vt:lpstr>Arial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Data Preparation </vt:lpstr>
      <vt:lpstr>Dashboard Visualizations</vt:lpstr>
      <vt:lpstr>PowerPoint Presentation</vt:lpstr>
      <vt:lpstr>Key Insights</vt:lpstr>
      <vt:lpstr>Service Subscription Analysis</vt:lpstr>
      <vt:lpstr>PowerPoint Presentation</vt:lpstr>
      <vt:lpstr>Key Insights</vt:lpstr>
      <vt:lpstr>Contract &amp; Billing Insights</vt:lpstr>
      <vt:lpstr>PowerPoint Presentation</vt:lpstr>
      <vt:lpstr>Key Insights</vt:lpstr>
      <vt:lpstr>Churn Prediction &amp; Key Drivers</vt:lpstr>
      <vt:lpstr>PowerPoint Presentation</vt:lpstr>
      <vt:lpstr>Key Insights</vt:lpstr>
      <vt:lpstr>Applications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Arjun Naluvala</cp:lastModifiedBy>
  <cp:revision>37</cp:revision>
  <dcterms:created xsi:type="dcterms:W3CDTF">2021-02-16T05:19:01Z</dcterms:created>
  <dcterms:modified xsi:type="dcterms:W3CDTF">2026-05-11T20:07:18Z</dcterms:modified>
</cp:coreProperties>
</file>